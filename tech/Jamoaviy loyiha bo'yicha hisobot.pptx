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46304" cy="146304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" y="640080"/>
            <a:ext cx="146304" cy="14630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4" name="Shape 2"/>
          <p:cNvSpPr/>
          <p:nvPr/>
        </p:nvSpPr>
        <p:spPr>
          <a:xfrm>
            <a:off x="1152144" y="640080"/>
            <a:ext cx="146304" cy="146304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576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&amp;&amp; ./game_of_life &lt; src/pattern1.txt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2331720" cy="457200"/>
          </a:xfrm>
          <a:prstGeom prst="rect">
            <a:avLst>
              <a:gd name="adj" fmla="val 16000"/>
            </a:avLst>
          </a:prstGeom>
          <a:solidFill>
            <a:srgbClr val="1F2733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LOYIHA YAKUNLANDI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D12P02: THE GAME OF LIFE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Bizning jamoamiz — Team Lead, Developer va Analitik — birgalikda yaratgan natija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343400"/>
            <a:ext cx="1783080" cy="1005840"/>
          </a:xfrm>
          <a:prstGeom prst="rect">
            <a:avLst>
              <a:gd name="adj" fmla="val 7273"/>
            </a:avLst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434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qator kod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4343400"/>
            <a:ext cx="1783080" cy="1005840"/>
          </a:xfrm>
          <a:prstGeom prst="rect">
            <a:avLst>
              <a:gd name="adj" fmla="val 7273"/>
            </a:avLst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4434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743200" y="4937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4343400"/>
            <a:ext cx="1783080" cy="1005840"/>
          </a:xfrm>
          <a:prstGeom prst="rect">
            <a:avLst>
              <a:gd name="adj" fmla="val 7273"/>
            </a:avLst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4434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63440" y="4937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tayyor holat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4343400"/>
            <a:ext cx="1783080" cy="1005840"/>
          </a:xfrm>
          <a:prstGeom prst="rect">
            <a:avLst>
              <a:gd name="adj" fmla="val 7273"/>
            </a:avLst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434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583680" y="49377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 hujjat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21  ·  Team loyihasi  ·  C / ncurses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Jamoa tarkibi va rollar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3 kishilik jamoa tomonidan, aniq rol taqsimoti bilan amalga oshirildi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4480560"/>
          </a:xfrm>
          <a:prstGeom prst="rect">
            <a:avLst>
              <a:gd name="adj" fmla="val 3200"/>
            </a:avLst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2971800" cy="457200"/>
          </a:xfrm>
          <a:prstGeom prst="rect">
            <a:avLst>
              <a:gd name="adj" fmla="val 16000"/>
            </a:avLst>
          </a:prstGeom>
          <a:solidFill>
            <a:srgbClr val="1F2733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LEAD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 rejalashtirish, vazifalarni taqsimlash, GitLab'da develop branch va umumiy sifatni nazorat qilish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118872" cy="118872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0965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tuzilishini shakllantirish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4754880"/>
            <a:ext cx="118872" cy="118872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6451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ishini muvofiqlashtirish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5303520"/>
            <a:ext cx="118872" cy="118872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1937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tekshiruv va topshirish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06240" y="1691640"/>
            <a:ext cx="3429000" cy="4480560"/>
          </a:xfrm>
          <a:prstGeom prst="rect">
            <a:avLst>
              <a:gd name="adj" fmla="val 3200"/>
            </a:avLst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4840" y="1965960"/>
            <a:ext cx="2971800" cy="457200"/>
          </a:xfrm>
          <a:prstGeom prst="rect">
            <a:avLst>
              <a:gd name="adj" fmla="val 16000"/>
            </a:avLst>
          </a:prstGeom>
          <a:solidFill>
            <a:srgbClr val="1F2733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965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80560" y="26517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game_of_life.c faylini yozish: grid o'qish, qoidalarni qo'llash, ncurses orqali chizish va boshqaruv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80560" y="4206240"/>
            <a:ext cx="118872" cy="118872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40965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 funksiya arxitekturasi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80560" y="4754880"/>
            <a:ext cx="118872" cy="118872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46451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Toroidal qo'shnilarni hisoblash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80560" y="5303520"/>
            <a:ext cx="118872" cy="118872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51937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 A/Z/Space boshqaruv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63840" y="1691640"/>
            <a:ext cx="3429000" cy="4480560"/>
          </a:xfrm>
          <a:prstGeom prst="rect">
            <a:avLst>
              <a:gd name="adj" fmla="val 3200"/>
            </a:avLst>
          </a:prstGeom>
          <a:solidFill>
            <a:srgbClr val="161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8092440" y="1965960"/>
            <a:ext cx="2971800" cy="457200"/>
          </a:xfrm>
          <a:prstGeom prst="rect">
            <a:avLst>
              <a:gd name="adj" fmla="val 16000"/>
            </a:avLst>
          </a:prstGeom>
          <a:solidFill>
            <a:srgbClr val="1F2733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1965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ANALITIK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38160" y="26517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 klassik boshlang'ich holatni tanlash, hujjatlarni 4 tilga tayyorlash va test ssenariylarini tekshirish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38160" y="4206240"/>
            <a:ext cx="118872" cy="118872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9" name="Text 27"/>
          <p:cNvSpPr/>
          <p:nvPr/>
        </p:nvSpPr>
        <p:spPr>
          <a:xfrm>
            <a:off x="8366760" y="40965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fayllarini loyihalash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38160" y="4754880"/>
            <a:ext cx="118872" cy="118872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6451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(Eng/Rus/Uzb/Tajik)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5303520"/>
            <a:ext cx="118872" cy="118872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33" name="Text 31"/>
          <p:cNvSpPr/>
          <p:nvPr/>
        </p:nvSpPr>
        <p:spPr>
          <a:xfrm>
            <a:off x="8366760" y="51937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va sifat hujjatlari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Yakunlangan loyiha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Repozitoriy strukturasi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branch'da yakunlangan holatdagi loyiha tuzilishi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572000"/>
          </a:xfrm>
          <a:prstGeom prst="rect">
            <a:avLst>
              <a:gd name="adj" fmla="val 2000"/>
            </a:avLst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D12P02.../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13055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3230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game_of_life.c   (164 qator)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73405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pattern1..5.txt  (boshlang'ich holatlar)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03580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materials/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linters/.clang-format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63931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instructions_for_testing.md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94106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7 principles of structural programming.md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24281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misc/  (rasmlar: eng, rus)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5445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Makefile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         (inglizcha)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1480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README_RUS.md      (ruscha)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44982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README_UZB.md      (o'zbekcha)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75157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README_TGK.md      (tojikcha)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605332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LICENSE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440680" cy="4572000"/>
          </a:xfrm>
          <a:prstGeom prst="rect">
            <a:avLst>
              <a:gd name="adj" fmla="val 2000"/>
            </a:avLst>
          </a:prstGeom>
          <a:solidFill>
            <a:srgbClr val="1F2733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ASOSIY FAYL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src/game_of_life.c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92240" y="28803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Kompilyatsiya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0" y="2880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-Wall -Werror -Wextra -lncurses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44728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Kutubxona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0" y="344728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ncurses (terminal grafikasi)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401421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Ishga tushirish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0" y="401421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./game_of_life &lt; src/patternN.txt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458114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stili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0" y="458114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.clang-format (Google Style)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514807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Litsenziya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29600" y="514807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 fayli mavjud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Yakunlangan loyiha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 arxitekturasi — 10 ta funksiya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biri kichik va aniq vazifaga ega — 42 qatorlik chegaradan ancha past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1325880"/>
          </a:xfrm>
          <a:prstGeom prst="rect">
            <a:avLst>
              <a:gd name="adj" fmla="val 5517"/>
            </a:avLst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801368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is_whitespace()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148840"/>
            <a:ext cx="3054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 bo'sh joymi (probel, tab va h.k.) ekanini tekshiradi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0" y="1691640"/>
            <a:ext cx="3383280" cy="1325880"/>
          </a:xfrm>
          <a:prstGeom prst="rect">
            <a:avLst>
              <a:gd name="adj" fmla="val 5517"/>
            </a:avLst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279392" y="1801368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only_whitespace_left()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79392" y="2148840"/>
            <a:ext cx="3054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Kirishda faqat bo'sh belgilar qolganini tasdiqlaydi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1691640"/>
            <a:ext cx="3383280" cy="1325880"/>
          </a:xfrm>
          <a:prstGeom prst="rect">
            <a:avLst>
              <a:gd name="adj" fmla="val 5517"/>
            </a:avLst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7845552" y="1801368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read_grid()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45552" y="2148840"/>
            <a:ext cx="3054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stdin'dan 80×25 matritsani o'qiydi va tekshiradi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82112"/>
            <a:ext cx="3383280" cy="1325880"/>
          </a:xfrm>
          <a:prstGeom prst="rect">
            <a:avLst>
              <a:gd name="adj" fmla="val 5517"/>
            </a:avLst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291840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count_neighbors()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3639312"/>
            <a:ext cx="3054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qo'shnini toroidal tarzda (% orqali) sanaydi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3182112"/>
            <a:ext cx="3383280" cy="1325880"/>
          </a:xfrm>
          <a:prstGeom prst="rect">
            <a:avLst>
              <a:gd name="adj" fmla="val 5517"/>
            </a:avLst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4279392" y="3291840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next_cell_state()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79392" y="3639312"/>
            <a:ext cx="3054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Conway qoidalariga ko'ra keyingi holatni aniqlaydi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80960" y="3182112"/>
            <a:ext cx="3383280" cy="1325880"/>
          </a:xfrm>
          <a:prstGeom prst="rect">
            <a:avLst>
              <a:gd name="adj" fmla="val 5517"/>
            </a:avLst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7845552" y="3291840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update_grid()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45552" y="3639312"/>
            <a:ext cx="3054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 doskani bir vaqtda yangi avlodga o'tkazadi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672584"/>
            <a:ext cx="3383280" cy="1325880"/>
          </a:xfrm>
          <a:prstGeom prst="rect">
            <a:avLst>
              <a:gd name="adj" fmla="val 5517"/>
            </a:avLst>
          </a:prstGeom>
          <a:solidFill>
            <a:srgbClr val="161B22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782312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draw_grid()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" y="5129784"/>
            <a:ext cx="3054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ncurses orqali doskani ASCII (O / bo'sh) shaklda chizadi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0" y="4672584"/>
            <a:ext cx="3383280" cy="1325880"/>
          </a:xfrm>
          <a:prstGeom prst="rect">
            <a:avLst>
              <a:gd name="adj" fmla="val 5517"/>
            </a:avLst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4279392" y="4782312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handle_input()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79392" y="5129784"/>
            <a:ext cx="3054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A/Z/Space tugmalarini qayta ishlaydi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80960" y="4672584"/>
            <a:ext cx="3383280" cy="1325880"/>
          </a:xfrm>
          <a:prstGeom prst="rect">
            <a:avLst>
              <a:gd name="adj" fmla="val 5517"/>
            </a:avLst>
          </a:prstGeom>
          <a:solidFill>
            <a:srgbClr val="161B22"/>
          </a:solidFill>
          <a:ln/>
        </p:spPr>
      </p:sp>
      <p:sp>
        <p:nvSpPr>
          <p:cNvPr id="29" name="Text 27"/>
          <p:cNvSpPr/>
          <p:nvPr/>
        </p:nvSpPr>
        <p:spPr>
          <a:xfrm>
            <a:off x="7845552" y="4782312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run_game()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45552" y="5129784"/>
            <a:ext cx="3054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sikl: chizish → kiritish → yangilash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163056"/>
            <a:ext cx="3383280" cy="1325880"/>
          </a:xfrm>
          <a:prstGeom prst="rect">
            <a:avLst>
              <a:gd name="adj" fmla="val 5517"/>
            </a:avLst>
          </a:prstGeom>
          <a:solidFill>
            <a:srgbClr val="161B22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6272784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" y="6620256"/>
            <a:ext cx="3054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Kirishni o'qiydi, ncurses'ni ishga tushiradi, o'yinni boshlaydi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Yakunlangan loyiha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Dastur qanday ishlaydi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dan run_game() ichidagi asosiy siklgacha bo'lgan yo'l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81328" y="2011680"/>
            <a:ext cx="768096" cy="768096"/>
          </a:xfrm>
          <a:prstGeom prst="ellipse">
            <a:avLst/>
          </a:prstGeom>
          <a:solidFill>
            <a:srgbClr val="1F2733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81328" y="20116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49424" y="2395728"/>
            <a:ext cx="1316736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292608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read_grid()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310128"/>
            <a:ext cx="22677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stdin orqali 80×25 matritsa o'qiladi va tekshiriladi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2011680"/>
            <a:ext cx="768096" cy="768096"/>
          </a:xfrm>
          <a:prstGeom prst="ellipse">
            <a:avLst/>
          </a:prstGeom>
          <a:solidFill>
            <a:srgbClr val="1F2733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0116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334256" y="2395728"/>
            <a:ext cx="1316736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770632" y="292608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freopen("/dev/tty")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16352" y="3310128"/>
            <a:ext cx="22677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 qayta klaviaturaga ulanadi (fayl bilan emas)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50992" y="2011680"/>
            <a:ext cx="768096" cy="768096"/>
          </a:xfrm>
          <a:prstGeom prst="ellipse">
            <a:avLst/>
          </a:prstGeom>
          <a:solidFill>
            <a:srgbClr val="1F2733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20116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19088" y="2395728"/>
            <a:ext cx="1316736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855464" y="292608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initscr()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01184" y="3310128"/>
            <a:ext cx="22677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ncurses ishga tushadi, terminal o'lchami tekshiriladi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35824" y="2011680"/>
            <a:ext cx="768096" cy="768096"/>
          </a:xfrm>
          <a:prstGeom prst="ellipse">
            <a:avLst/>
          </a:prstGeom>
          <a:solidFill>
            <a:srgbClr val="1F2733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35824" y="20116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503920" y="2395728"/>
            <a:ext cx="1316736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940296" y="292608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run_game()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86016" y="3310128"/>
            <a:ext cx="22677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 boshlanadi: chiz → tugma o'qi → yangila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20656" y="2011680"/>
            <a:ext cx="768096" cy="768096"/>
          </a:xfrm>
          <a:prstGeom prst="ellipse">
            <a:avLst/>
          </a:prstGeom>
          <a:solidFill>
            <a:srgbClr val="1F2733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0656" y="20116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025128" y="2926080"/>
            <a:ext cx="2359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endwin()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70848" y="3310128"/>
            <a:ext cx="22677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 tugagach ncurses rejimi yopiladi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4434840"/>
            <a:ext cx="10515600" cy="1691640"/>
          </a:xfrm>
          <a:prstGeom prst="rect">
            <a:avLst>
              <a:gd name="adj" fmla="val 5405"/>
            </a:avLst>
          </a:prstGeom>
          <a:solidFill>
            <a:srgbClr val="161B22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run_game() ICHIDAGI SIKL (while running)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4983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draw_grid(grid)  →  key = getch()  →  handle_input(key, &amp;speed, &amp;running)  →  napms(speed)  →  update_grid(grid)  →  (qayta boshidan)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Yakunlangan loyiha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Interaktiv boshqaruv — real qiymatlar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05840" y="1417320"/>
            <a:ext cx="3200400" cy="2834640"/>
          </a:xfrm>
          <a:prstGeom prst="rect">
            <a:avLst>
              <a:gd name="adj" fmla="val 4516"/>
            </a:avLst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0" y="1691640"/>
            <a:ext cx="1188720" cy="1188720"/>
          </a:xfrm>
          <a:prstGeom prst="roundRect">
            <a:avLst>
              <a:gd name="adj" fmla="val 11538"/>
            </a:avLst>
          </a:prstGeom>
          <a:solidFill>
            <a:srgbClr val="1F2733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16916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Tezlashtirish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34290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-= 10ms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(MIN_SPEED = 20ms gacha)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3200400" cy="2834640"/>
          </a:xfrm>
          <a:prstGeom prst="rect">
            <a:avLst>
              <a:gd name="adj" fmla="val 4516"/>
            </a:avLst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5577840" y="1691640"/>
            <a:ext cx="1188720" cy="1188720"/>
          </a:xfrm>
          <a:prstGeom prst="roundRect">
            <a:avLst>
              <a:gd name="adj" fmla="val 11538"/>
            </a:avLst>
          </a:prstGeom>
          <a:solidFill>
            <a:srgbClr val="1F2733"/>
          </a:solidFill>
          <a:ln w="25400">
            <a:solidFill>
              <a:srgbClr val="F0B4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6916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Sekinlashtirish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4880" y="34290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+= 10ms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(MAX_SPEED = 500ms gacha)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200400" cy="2834640"/>
          </a:xfrm>
          <a:prstGeom prst="rect">
            <a:avLst>
              <a:gd name="adj" fmla="val 4516"/>
            </a:avLst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0" y="1691640"/>
            <a:ext cx="1188720" cy="1188720"/>
          </a:xfrm>
          <a:prstGeom prst="roundRect">
            <a:avLst>
              <a:gd name="adj" fmla="val 11538"/>
            </a:avLst>
          </a:prstGeom>
          <a:solidFill>
            <a:srgbClr val="1F2733"/>
          </a:solidFill>
          <a:ln w="25400">
            <a:solidFill>
              <a:srgbClr val="E553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6916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␣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321040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To'xtatish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21040" y="34290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= 0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sikl darhol yakunlanadi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526280"/>
            <a:ext cx="10515600" cy="1554480"/>
          </a:xfrm>
          <a:prstGeom prst="rect">
            <a:avLst>
              <a:gd name="adj" fmla="val 5882"/>
            </a:avLst>
          </a:prstGeom>
          <a:solidFill>
            <a:srgbClr val="1F2733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 ICHIDAGI KONSTANTALAR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5074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INITIAL_SPEED 100   #define MIN_SPEED 20   #define MAX_SPEED 500   #define SPEED_STEP 10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577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qiymatlar tezlikni millisekundlarda boshqaradi: kichikroq son — tezroq animatsiya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Yakunlangan loyiha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ta tayyor boshlang'ich holat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src/pattern1.txt — pattern5.txt: har biri 80×25 matritsa, barcha klassik toifalarni qamrab oladi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11680" cy="3200400"/>
          </a:xfrm>
          <a:prstGeom prst="rect">
            <a:avLst>
              <a:gd name="adj" fmla="val 4545"/>
            </a:avLst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92024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92024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192024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28600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228600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228600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2" name="Shape 10"/>
          <p:cNvSpPr/>
          <p:nvPr/>
        </p:nvSpPr>
        <p:spPr>
          <a:xfrm>
            <a:off x="1920240" y="228600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265176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265176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5" name="Shape 13"/>
          <p:cNvSpPr/>
          <p:nvPr/>
        </p:nvSpPr>
        <p:spPr>
          <a:xfrm>
            <a:off x="1554480" y="265176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20240" y="265176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301752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8720" y="301752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9" name="Shape 17"/>
          <p:cNvSpPr/>
          <p:nvPr/>
        </p:nvSpPr>
        <p:spPr>
          <a:xfrm>
            <a:off x="1554480" y="301752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0" name="Shape 18"/>
          <p:cNvSpPr/>
          <p:nvPr/>
        </p:nvSpPr>
        <p:spPr>
          <a:xfrm>
            <a:off x="1920240" y="301752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Glider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Harakatlanuvchi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416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pattern1.txt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06624" y="1691640"/>
            <a:ext cx="2011680" cy="3200400"/>
          </a:xfrm>
          <a:prstGeom prst="rect">
            <a:avLst>
              <a:gd name="adj" fmla="val 4545"/>
            </a:avLst>
          </a:prstGeom>
          <a:solidFill>
            <a:srgbClr val="161B22"/>
          </a:solidFill>
          <a:ln/>
        </p:spPr>
      </p:sp>
      <p:sp>
        <p:nvSpPr>
          <p:cNvPr id="25" name="Shape 23"/>
          <p:cNvSpPr/>
          <p:nvPr/>
        </p:nvSpPr>
        <p:spPr>
          <a:xfrm>
            <a:off x="2980944" y="19202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6" name="Shape 24"/>
          <p:cNvSpPr/>
          <p:nvPr/>
        </p:nvSpPr>
        <p:spPr>
          <a:xfrm>
            <a:off x="3163824" y="19202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7" name="Shape 25"/>
          <p:cNvSpPr/>
          <p:nvPr/>
        </p:nvSpPr>
        <p:spPr>
          <a:xfrm>
            <a:off x="3346704" y="19202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8" name="Shape 26"/>
          <p:cNvSpPr/>
          <p:nvPr/>
        </p:nvSpPr>
        <p:spPr>
          <a:xfrm>
            <a:off x="3529584" y="19202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9" name="Shape 27"/>
          <p:cNvSpPr/>
          <p:nvPr/>
        </p:nvSpPr>
        <p:spPr>
          <a:xfrm>
            <a:off x="3712464" y="19202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0" name="Shape 28"/>
          <p:cNvSpPr/>
          <p:nvPr/>
        </p:nvSpPr>
        <p:spPr>
          <a:xfrm>
            <a:off x="3895344" y="19202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1" name="Shape 29"/>
          <p:cNvSpPr/>
          <p:nvPr/>
        </p:nvSpPr>
        <p:spPr>
          <a:xfrm>
            <a:off x="4078224" y="19202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2" name="Shape 30"/>
          <p:cNvSpPr/>
          <p:nvPr/>
        </p:nvSpPr>
        <p:spPr>
          <a:xfrm>
            <a:off x="4261104" y="19202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3" name="Shape 31"/>
          <p:cNvSpPr/>
          <p:nvPr/>
        </p:nvSpPr>
        <p:spPr>
          <a:xfrm>
            <a:off x="2980944" y="21031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4" name="Shape 32"/>
          <p:cNvSpPr/>
          <p:nvPr/>
        </p:nvSpPr>
        <p:spPr>
          <a:xfrm>
            <a:off x="3163824" y="210312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35" name="Shape 33"/>
          <p:cNvSpPr/>
          <p:nvPr/>
        </p:nvSpPr>
        <p:spPr>
          <a:xfrm>
            <a:off x="3346704" y="210312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36" name="Shape 34"/>
          <p:cNvSpPr/>
          <p:nvPr/>
        </p:nvSpPr>
        <p:spPr>
          <a:xfrm>
            <a:off x="3529584" y="21031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7" name="Shape 35"/>
          <p:cNvSpPr/>
          <p:nvPr/>
        </p:nvSpPr>
        <p:spPr>
          <a:xfrm>
            <a:off x="3712464" y="21031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8" name="Shape 36"/>
          <p:cNvSpPr/>
          <p:nvPr/>
        </p:nvSpPr>
        <p:spPr>
          <a:xfrm>
            <a:off x="3895344" y="210312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39" name="Shape 37"/>
          <p:cNvSpPr/>
          <p:nvPr/>
        </p:nvSpPr>
        <p:spPr>
          <a:xfrm>
            <a:off x="4078224" y="21031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0" name="Shape 38"/>
          <p:cNvSpPr/>
          <p:nvPr/>
        </p:nvSpPr>
        <p:spPr>
          <a:xfrm>
            <a:off x="4261104" y="21031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1" name="Shape 39"/>
          <p:cNvSpPr/>
          <p:nvPr/>
        </p:nvSpPr>
        <p:spPr>
          <a:xfrm>
            <a:off x="2980944" y="22860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2" name="Shape 40"/>
          <p:cNvSpPr/>
          <p:nvPr/>
        </p:nvSpPr>
        <p:spPr>
          <a:xfrm>
            <a:off x="3163824" y="228600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43" name="Shape 41"/>
          <p:cNvSpPr/>
          <p:nvPr/>
        </p:nvSpPr>
        <p:spPr>
          <a:xfrm>
            <a:off x="3346704" y="228600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44" name="Shape 42"/>
          <p:cNvSpPr/>
          <p:nvPr/>
        </p:nvSpPr>
        <p:spPr>
          <a:xfrm>
            <a:off x="3529584" y="22860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5" name="Shape 43"/>
          <p:cNvSpPr/>
          <p:nvPr/>
        </p:nvSpPr>
        <p:spPr>
          <a:xfrm>
            <a:off x="3712464" y="228600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46" name="Shape 44"/>
          <p:cNvSpPr/>
          <p:nvPr/>
        </p:nvSpPr>
        <p:spPr>
          <a:xfrm>
            <a:off x="3895344" y="22860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7" name="Shape 45"/>
          <p:cNvSpPr/>
          <p:nvPr/>
        </p:nvSpPr>
        <p:spPr>
          <a:xfrm>
            <a:off x="4078224" y="228600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48" name="Shape 46"/>
          <p:cNvSpPr/>
          <p:nvPr/>
        </p:nvSpPr>
        <p:spPr>
          <a:xfrm>
            <a:off x="4261104" y="22860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9" name="Shape 47"/>
          <p:cNvSpPr/>
          <p:nvPr/>
        </p:nvSpPr>
        <p:spPr>
          <a:xfrm>
            <a:off x="2980944" y="24688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0" name="Shape 48"/>
          <p:cNvSpPr/>
          <p:nvPr/>
        </p:nvSpPr>
        <p:spPr>
          <a:xfrm>
            <a:off x="3163824" y="24688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1" name="Shape 49"/>
          <p:cNvSpPr/>
          <p:nvPr/>
        </p:nvSpPr>
        <p:spPr>
          <a:xfrm>
            <a:off x="3346704" y="24688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2" name="Shape 50"/>
          <p:cNvSpPr/>
          <p:nvPr/>
        </p:nvSpPr>
        <p:spPr>
          <a:xfrm>
            <a:off x="3529584" y="24688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3" name="Shape 51"/>
          <p:cNvSpPr/>
          <p:nvPr/>
        </p:nvSpPr>
        <p:spPr>
          <a:xfrm>
            <a:off x="3712464" y="246888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54" name="Shape 52"/>
          <p:cNvSpPr/>
          <p:nvPr/>
        </p:nvSpPr>
        <p:spPr>
          <a:xfrm>
            <a:off x="3895344" y="24688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5" name="Shape 53"/>
          <p:cNvSpPr/>
          <p:nvPr/>
        </p:nvSpPr>
        <p:spPr>
          <a:xfrm>
            <a:off x="4078224" y="246888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56" name="Shape 54"/>
          <p:cNvSpPr/>
          <p:nvPr/>
        </p:nvSpPr>
        <p:spPr>
          <a:xfrm>
            <a:off x="4261104" y="24688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7" name="Shape 55"/>
          <p:cNvSpPr/>
          <p:nvPr/>
        </p:nvSpPr>
        <p:spPr>
          <a:xfrm>
            <a:off x="2980944" y="265176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8" name="Shape 56"/>
          <p:cNvSpPr/>
          <p:nvPr/>
        </p:nvSpPr>
        <p:spPr>
          <a:xfrm>
            <a:off x="3163824" y="265176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9" name="Shape 57"/>
          <p:cNvSpPr/>
          <p:nvPr/>
        </p:nvSpPr>
        <p:spPr>
          <a:xfrm>
            <a:off x="3346704" y="265176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0" name="Shape 58"/>
          <p:cNvSpPr/>
          <p:nvPr/>
        </p:nvSpPr>
        <p:spPr>
          <a:xfrm>
            <a:off x="3529584" y="265176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1" name="Shape 59"/>
          <p:cNvSpPr/>
          <p:nvPr/>
        </p:nvSpPr>
        <p:spPr>
          <a:xfrm>
            <a:off x="3712464" y="265176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2" name="Shape 60"/>
          <p:cNvSpPr/>
          <p:nvPr/>
        </p:nvSpPr>
        <p:spPr>
          <a:xfrm>
            <a:off x="3895344" y="265176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63" name="Shape 61"/>
          <p:cNvSpPr/>
          <p:nvPr/>
        </p:nvSpPr>
        <p:spPr>
          <a:xfrm>
            <a:off x="4078224" y="265176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4" name="Shape 62"/>
          <p:cNvSpPr/>
          <p:nvPr/>
        </p:nvSpPr>
        <p:spPr>
          <a:xfrm>
            <a:off x="4261104" y="265176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5" name="Shape 63"/>
          <p:cNvSpPr/>
          <p:nvPr/>
        </p:nvSpPr>
        <p:spPr>
          <a:xfrm>
            <a:off x="2980944" y="28346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6" name="Shape 64"/>
          <p:cNvSpPr/>
          <p:nvPr/>
        </p:nvSpPr>
        <p:spPr>
          <a:xfrm>
            <a:off x="3163824" y="283464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46704" y="283464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68" name="Shape 66"/>
          <p:cNvSpPr/>
          <p:nvPr/>
        </p:nvSpPr>
        <p:spPr>
          <a:xfrm>
            <a:off x="3529584" y="28346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9" name="Shape 67"/>
          <p:cNvSpPr/>
          <p:nvPr/>
        </p:nvSpPr>
        <p:spPr>
          <a:xfrm>
            <a:off x="3712464" y="28346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0" name="Shape 68"/>
          <p:cNvSpPr/>
          <p:nvPr/>
        </p:nvSpPr>
        <p:spPr>
          <a:xfrm>
            <a:off x="3895344" y="28346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1" name="Shape 69"/>
          <p:cNvSpPr/>
          <p:nvPr/>
        </p:nvSpPr>
        <p:spPr>
          <a:xfrm>
            <a:off x="4078224" y="28346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2" name="Shape 70"/>
          <p:cNvSpPr/>
          <p:nvPr/>
        </p:nvSpPr>
        <p:spPr>
          <a:xfrm>
            <a:off x="4261104" y="28346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3" name="Shape 71"/>
          <p:cNvSpPr/>
          <p:nvPr/>
        </p:nvSpPr>
        <p:spPr>
          <a:xfrm>
            <a:off x="2980944" y="30175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4" name="Shape 72"/>
          <p:cNvSpPr/>
          <p:nvPr/>
        </p:nvSpPr>
        <p:spPr>
          <a:xfrm>
            <a:off x="3163824" y="301752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75" name="Shape 73"/>
          <p:cNvSpPr/>
          <p:nvPr/>
        </p:nvSpPr>
        <p:spPr>
          <a:xfrm>
            <a:off x="3346704" y="301752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76" name="Shape 74"/>
          <p:cNvSpPr/>
          <p:nvPr/>
        </p:nvSpPr>
        <p:spPr>
          <a:xfrm>
            <a:off x="3529584" y="30175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7" name="Shape 75"/>
          <p:cNvSpPr/>
          <p:nvPr/>
        </p:nvSpPr>
        <p:spPr>
          <a:xfrm>
            <a:off x="3712464" y="30175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8" name="Shape 76"/>
          <p:cNvSpPr/>
          <p:nvPr/>
        </p:nvSpPr>
        <p:spPr>
          <a:xfrm>
            <a:off x="3895344" y="30175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9" name="Shape 77"/>
          <p:cNvSpPr/>
          <p:nvPr/>
        </p:nvSpPr>
        <p:spPr>
          <a:xfrm>
            <a:off x="4078224" y="30175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0" name="Shape 78"/>
          <p:cNvSpPr/>
          <p:nvPr/>
        </p:nvSpPr>
        <p:spPr>
          <a:xfrm>
            <a:off x="4261104" y="30175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1" name="Shape 79"/>
          <p:cNvSpPr/>
          <p:nvPr/>
        </p:nvSpPr>
        <p:spPr>
          <a:xfrm>
            <a:off x="2980944" y="32004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2" name="Shape 80"/>
          <p:cNvSpPr/>
          <p:nvPr/>
        </p:nvSpPr>
        <p:spPr>
          <a:xfrm>
            <a:off x="3163824" y="32004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3" name="Shape 81"/>
          <p:cNvSpPr/>
          <p:nvPr/>
        </p:nvSpPr>
        <p:spPr>
          <a:xfrm>
            <a:off x="3346704" y="32004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4" name="Shape 82"/>
          <p:cNvSpPr/>
          <p:nvPr/>
        </p:nvSpPr>
        <p:spPr>
          <a:xfrm>
            <a:off x="3529584" y="32004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5" name="Shape 83"/>
          <p:cNvSpPr/>
          <p:nvPr/>
        </p:nvSpPr>
        <p:spPr>
          <a:xfrm>
            <a:off x="3712464" y="32004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6" name="Shape 84"/>
          <p:cNvSpPr/>
          <p:nvPr/>
        </p:nvSpPr>
        <p:spPr>
          <a:xfrm>
            <a:off x="3895344" y="32004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7" name="Shape 85"/>
          <p:cNvSpPr/>
          <p:nvPr/>
        </p:nvSpPr>
        <p:spPr>
          <a:xfrm>
            <a:off x="4078224" y="32004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8" name="Shape 86"/>
          <p:cNvSpPr/>
          <p:nvPr/>
        </p:nvSpPr>
        <p:spPr>
          <a:xfrm>
            <a:off x="4261104" y="32004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9" name="Text 87"/>
          <p:cNvSpPr/>
          <p:nvPr/>
        </p:nvSpPr>
        <p:spPr>
          <a:xfrm>
            <a:off x="2798064" y="3520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Gosper Gun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2798064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Qurol (Gun)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2798064" y="4416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pattern5.txt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4864608" y="1691640"/>
            <a:ext cx="2011680" cy="3200400"/>
          </a:xfrm>
          <a:prstGeom prst="rect">
            <a:avLst>
              <a:gd name="adj" fmla="val 4545"/>
            </a:avLst>
          </a:prstGeom>
          <a:solidFill>
            <a:srgbClr val="161B22"/>
          </a:solidFill>
          <a:ln/>
        </p:spPr>
      </p:sp>
      <p:sp>
        <p:nvSpPr>
          <p:cNvPr id="93" name="Shape 91"/>
          <p:cNvSpPr/>
          <p:nvPr/>
        </p:nvSpPr>
        <p:spPr>
          <a:xfrm>
            <a:off x="5138928" y="1920240"/>
            <a:ext cx="225552" cy="22555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94" name="Shape 92"/>
          <p:cNvSpPr/>
          <p:nvPr/>
        </p:nvSpPr>
        <p:spPr>
          <a:xfrm>
            <a:off x="5382768" y="1920240"/>
            <a:ext cx="225552" cy="22555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95" name="Shape 93"/>
          <p:cNvSpPr/>
          <p:nvPr/>
        </p:nvSpPr>
        <p:spPr>
          <a:xfrm>
            <a:off x="5626608" y="192024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6" name="Shape 94"/>
          <p:cNvSpPr/>
          <p:nvPr/>
        </p:nvSpPr>
        <p:spPr>
          <a:xfrm>
            <a:off x="5870448" y="192024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7" name="Shape 95"/>
          <p:cNvSpPr/>
          <p:nvPr/>
        </p:nvSpPr>
        <p:spPr>
          <a:xfrm>
            <a:off x="6114288" y="192024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8" name="Shape 96"/>
          <p:cNvSpPr/>
          <p:nvPr/>
        </p:nvSpPr>
        <p:spPr>
          <a:xfrm>
            <a:off x="6358128" y="192024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9" name="Shape 97"/>
          <p:cNvSpPr/>
          <p:nvPr/>
        </p:nvSpPr>
        <p:spPr>
          <a:xfrm>
            <a:off x="5138928" y="2164080"/>
            <a:ext cx="225552" cy="22555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00" name="Shape 98"/>
          <p:cNvSpPr/>
          <p:nvPr/>
        </p:nvSpPr>
        <p:spPr>
          <a:xfrm>
            <a:off x="5382768" y="2164080"/>
            <a:ext cx="225552" cy="22555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01" name="Shape 99"/>
          <p:cNvSpPr/>
          <p:nvPr/>
        </p:nvSpPr>
        <p:spPr>
          <a:xfrm>
            <a:off x="5626608" y="216408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870448" y="216408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3" name="Shape 101"/>
          <p:cNvSpPr/>
          <p:nvPr/>
        </p:nvSpPr>
        <p:spPr>
          <a:xfrm>
            <a:off x="6114288" y="216408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4" name="Shape 102"/>
          <p:cNvSpPr/>
          <p:nvPr/>
        </p:nvSpPr>
        <p:spPr>
          <a:xfrm>
            <a:off x="6358128" y="216408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138928" y="240792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82768" y="240792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626608" y="240792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870448" y="240792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114288" y="240792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0" name="Shape 108"/>
          <p:cNvSpPr/>
          <p:nvPr/>
        </p:nvSpPr>
        <p:spPr>
          <a:xfrm>
            <a:off x="6358128" y="240792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138928" y="265176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382768" y="265176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626608" y="265176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70448" y="2651760"/>
            <a:ext cx="225552" cy="22555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6114288" y="2651760"/>
            <a:ext cx="225552" cy="22555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6358128" y="2651760"/>
            <a:ext cx="225552" cy="22555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138928" y="289560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382768" y="289560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626608" y="289560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70448" y="289560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1" name="Shape 119"/>
          <p:cNvSpPr/>
          <p:nvPr/>
        </p:nvSpPr>
        <p:spPr>
          <a:xfrm>
            <a:off x="6114288" y="289560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8128" y="289560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3" name="Shape 121"/>
          <p:cNvSpPr/>
          <p:nvPr/>
        </p:nvSpPr>
        <p:spPr>
          <a:xfrm>
            <a:off x="5138928" y="313944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4" name="Shape 122"/>
          <p:cNvSpPr/>
          <p:nvPr/>
        </p:nvSpPr>
        <p:spPr>
          <a:xfrm>
            <a:off x="5382768" y="313944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5" name="Shape 123"/>
          <p:cNvSpPr/>
          <p:nvPr/>
        </p:nvSpPr>
        <p:spPr>
          <a:xfrm>
            <a:off x="5626608" y="313944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6" name="Shape 124"/>
          <p:cNvSpPr/>
          <p:nvPr/>
        </p:nvSpPr>
        <p:spPr>
          <a:xfrm>
            <a:off x="5870448" y="313944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114288" y="313944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8128" y="313944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9" name="Text 127"/>
          <p:cNvSpPr/>
          <p:nvPr/>
        </p:nvSpPr>
        <p:spPr>
          <a:xfrm>
            <a:off x="4956048" y="3520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Block+Blinker+Beehive</a:t>
            </a:r>
            <a:endParaRPr lang="en-US" sz="1300" dirty="0"/>
          </a:p>
        </p:txBody>
      </p:sp>
      <p:sp>
        <p:nvSpPr>
          <p:cNvPr id="130" name="Text 128"/>
          <p:cNvSpPr/>
          <p:nvPr/>
        </p:nvSpPr>
        <p:spPr>
          <a:xfrm>
            <a:off x="4956048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Barqaror &amp; Davriy</a:t>
            </a:r>
            <a:endParaRPr lang="en-US" sz="1050" dirty="0"/>
          </a:p>
        </p:txBody>
      </p:sp>
      <p:sp>
        <p:nvSpPr>
          <p:cNvPr id="131" name="Text 129"/>
          <p:cNvSpPr/>
          <p:nvPr/>
        </p:nvSpPr>
        <p:spPr>
          <a:xfrm>
            <a:off x="4956048" y="4416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pattern3.txt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7022592" y="1691640"/>
            <a:ext cx="2011680" cy="3200400"/>
          </a:xfrm>
          <a:prstGeom prst="rect">
            <a:avLst>
              <a:gd name="adj" fmla="val 4545"/>
            </a:avLst>
          </a:prstGeom>
          <a:solidFill>
            <a:srgbClr val="161B22"/>
          </a:solidFill>
          <a:ln/>
        </p:spPr>
      </p:sp>
      <p:sp>
        <p:nvSpPr>
          <p:cNvPr id="133" name="Shape 131"/>
          <p:cNvSpPr/>
          <p:nvPr/>
        </p:nvSpPr>
        <p:spPr>
          <a:xfrm>
            <a:off x="7296912" y="1920240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7589520" y="1920240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35" name="Shape 133"/>
          <p:cNvSpPr/>
          <p:nvPr/>
        </p:nvSpPr>
        <p:spPr>
          <a:xfrm>
            <a:off x="7882128" y="1920240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36" name="Shape 134"/>
          <p:cNvSpPr/>
          <p:nvPr/>
        </p:nvSpPr>
        <p:spPr>
          <a:xfrm>
            <a:off x="8174736" y="1920240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8467344" y="1920240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38" name="Shape 136"/>
          <p:cNvSpPr/>
          <p:nvPr/>
        </p:nvSpPr>
        <p:spPr>
          <a:xfrm>
            <a:off x="7296912" y="2212848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39" name="Shape 137"/>
          <p:cNvSpPr/>
          <p:nvPr/>
        </p:nvSpPr>
        <p:spPr>
          <a:xfrm>
            <a:off x="7589520" y="2212848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40" name="Shape 138"/>
          <p:cNvSpPr/>
          <p:nvPr/>
        </p:nvSpPr>
        <p:spPr>
          <a:xfrm>
            <a:off x="7882128" y="2212848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41" name="Shape 139"/>
          <p:cNvSpPr/>
          <p:nvPr/>
        </p:nvSpPr>
        <p:spPr>
          <a:xfrm>
            <a:off x="8174736" y="2212848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42" name="Shape 140"/>
          <p:cNvSpPr/>
          <p:nvPr/>
        </p:nvSpPr>
        <p:spPr>
          <a:xfrm>
            <a:off x="8467344" y="2212848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296912" y="2505456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589520" y="2505456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882128" y="2505456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46" name="Shape 144"/>
          <p:cNvSpPr/>
          <p:nvPr/>
        </p:nvSpPr>
        <p:spPr>
          <a:xfrm>
            <a:off x="8174736" y="2505456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47" name="Shape 145"/>
          <p:cNvSpPr/>
          <p:nvPr/>
        </p:nvSpPr>
        <p:spPr>
          <a:xfrm>
            <a:off x="8467344" y="2505456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296912" y="2798064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589520" y="2798064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882128" y="2798064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8174736" y="2798064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8467344" y="2798064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296912" y="3090672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589520" y="3090672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82128" y="3090672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56" name="Shape 154"/>
          <p:cNvSpPr/>
          <p:nvPr/>
        </p:nvSpPr>
        <p:spPr>
          <a:xfrm>
            <a:off x="8174736" y="3090672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57" name="Shape 155"/>
          <p:cNvSpPr/>
          <p:nvPr/>
        </p:nvSpPr>
        <p:spPr>
          <a:xfrm>
            <a:off x="8467344" y="3090672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58" name="Text 156"/>
          <p:cNvSpPr/>
          <p:nvPr/>
        </p:nvSpPr>
        <p:spPr>
          <a:xfrm>
            <a:off x="7114032" y="3520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Metushelah</a:t>
            </a:r>
            <a:endParaRPr lang="en-US" sz="1300" dirty="0"/>
          </a:p>
        </p:txBody>
      </p:sp>
      <p:sp>
        <p:nvSpPr>
          <p:cNvPr id="159" name="Text 157"/>
          <p:cNvSpPr/>
          <p:nvPr/>
        </p:nvSpPr>
        <p:spPr>
          <a:xfrm>
            <a:off x="7114032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Uzoq rivojlanuvchi</a:t>
            </a:r>
            <a:endParaRPr lang="en-US" sz="1050" dirty="0"/>
          </a:p>
        </p:txBody>
      </p:sp>
      <p:sp>
        <p:nvSpPr>
          <p:cNvPr id="160" name="Text 158"/>
          <p:cNvSpPr/>
          <p:nvPr/>
        </p:nvSpPr>
        <p:spPr>
          <a:xfrm>
            <a:off x="7114032" y="4416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pattern4.txt</a:t>
            </a:r>
            <a:endParaRPr lang="en-US" sz="950" dirty="0"/>
          </a:p>
        </p:txBody>
      </p:sp>
      <p:sp>
        <p:nvSpPr>
          <p:cNvPr id="161" name="Shape 159"/>
          <p:cNvSpPr/>
          <p:nvPr/>
        </p:nvSpPr>
        <p:spPr>
          <a:xfrm>
            <a:off x="9180576" y="1691640"/>
            <a:ext cx="2011680" cy="3200400"/>
          </a:xfrm>
          <a:prstGeom prst="rect">
            <a:avLst>
              <a:gd name="adj" fmla="val 4545"/>
            </a:avLst>
          </a:prstGeom>
          <a:solidFill>
            <a:srgbClr val="161B22"/>
          </a:solidFill>
          <a:ln/>
        </p:spPr>
      </p:sp>
      <p:sp>
        <p:nvSpPr>
          <p:cNvPr id="162" name="Shape 160"/>
          <p:cNvSpPr/>
          <p:nvPr/>
        </p:nvSpPr>
        <p:spPr>
          <a:xfrm>
            <a:off x="9454896" y="192024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9820656" y="192024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0186416" y="192024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10552176" y="192024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66" name="Shape 164"/>
          <p:cNvSpPr/>
          <p:nvPr/>
        </p:nvSpPr>
        <p:spPr>
          <a:xfrm>
            <a:off x="9454896" y="228600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9820656" y="228600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68" name="Shape 166"/>
          <p:cNvSpPr/>
          <p:nvPr/>
        </p:nvSpPr>
        <p:spPr>
          <a:xfrm>
            <a:off x="10186416" y="228600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69" name="Shape 167"/>
          <p:cNvSpPr/>
          <p:nvPr/>
        </p:nvSpPr>
        <p:spPr>
          <a:xfrm>
            <a:off x="10552176" y="228600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70" name="Shape 168"/>
          <p:cNvSpPr/>
          <p:nvPr/>
        </p:nvSpPr>
        <p:spPr>
          <a:xfrm>
            <a:off x="9454896" y="265176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9820656" y="265176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10186416" y="265176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73" name="Shape 171"/>
          <p:cNvSpPr/>
          <p:nvPr/>
        </p:nvSpPr>
        <p:spPr>
          <a:xfrm>
            <a:off x="10552176" y="265176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74" name="Shape 172"/>
          <p:cNvSpPr/>
          <p:nvPr/>
        </p:nvSpPr>
        <p:spPr>
          <a:xfrm>
            <a:off x="9454896" y="301752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75" name="Shape 173"/>
          <p:cNvSpPr/>
          <p:nvPr/>
        </p:nvSpPr>
        <p:spPr>
          <a:xfrm>
            <a:off x="9820656" y="301752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76" name="Shape 174"/>
          <p:cNvSpPr/>
          <p:nvPr/>
        </p:nvSpPr>
        <p:spPr>
          <a:xfrm>
            <a:off x="10186416" y="301752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77" name="Shape 175"/>
          <p:cNvSpPr/>
          <p:nvPr/>
        </p:nvSpPr>
        <p:spPr>
          <a:xfrm>
            <a:off x="10552176" y="301752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78" name="Text 176"/>
          <p:cNvSpPr/>
          <p:nvPr/>
        </p:nvSpPr>
        <p:spPr>
          <a:xfrm>
            <a:off x="9272016" y="3520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Dinamik tuzilma</a:t>
            </a:r>
            <a:endParaRPr lang="en-US" sz="1300" dirty="0"/>
          </a:p>
        </p:txBody>
      </p:sp>
      <p:sp>
        <p:nvSpPr>
          <p:cNvPr id="179" name="Text 177"/>
          <p:cNvSpPr/>
          <p:nvPr/>
        </p:nvSpPr>
        <p:spPr>
          <a:xfrm>
            <a:off x="9272016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Rivojlanuvchi</a:t>
            </a:r>
            <a:endParaRPr lang="en-US" sz="1050" dirty="0"/>
          </a:p>
        </p:txBody>
      </p:sp>
      <p:sp>
        <p:nvSpPr>
          <p:cNvPr id="180" name="Text 178"/>
          <p:cNvSpPr/>
          <p:nvPr/>
        </p:nvSpPr>
        <p:spPr>
          <a:xfrm>
            <a:off x="9272016" y="4416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pattern2.txt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54864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Gosper Gun fayli aynan 36 ta tirik katakdan iborat — bu klassik "Gosper Glider Gun"ning o'ziga xos imzosi</a:t>
            </a:r>
            <a:endParaRPr lang="en-US" sz="1200" dirty="0"/>
          </a:p>
        </p:txBody>
      </p:sp>
      <p:sp>
        <p:nvSpPr>
          <p:cNvPr id="182" name="Text 18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Yakunlangan loyiha</a:t>
            </a:r>
            <a:endParaRPr lang="en-US" sz="900" dirty="0"/>
          </a:p>
        </p:txBody>
      </p:sp>
      <p:sp>
        <p:nvSpPr>
          <p:cNvPr id="183" name="Text 181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Ko'p tilli hujjatlashtirish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Analitik jamoa a'zosi topshiriq matnini 4 tilga moslashtirdi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2377440"/>
          </a:xfrm>
          <a:prstGeom prst="rect">
            <a:avLst>
              <a:gd name="adj" fmla="val 3846"/>
            </a:avLst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Inglizcha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2971800"/>
            <a:ext cx="2240280" cy="502920"/>
          </a:xfrm>
          <a:prstGeom prst="rect">
            <a:avLst>
              <a:gd name="adj" fmla="val 14545"/>
            </a:avLst>
          </a:prstGeom>
          <a:solidFill>
            <a:srgbClr val="1F273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718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qator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2514600" cy="2377440"/>
          </a:xfrm>
          <a:prstGeom prst="rect">
            <a:avLst>
              <a:gd name="adj" fmla="val 3846"/>
            </a:avLst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🇷🇺 Ruscha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README_RUS.md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0" y="2971800"/>
            <a:ext cx="2240280" cy="502920"/>
          </a:xfrm>
          <a:prstGeom prst="rect">
            <a:avLst>
              <a:gd name="adj" fmla="val 14545"/>
            </a:avLst>
          </a:prstGeom>
          <a:solidFill>
            <a:srgbClr val="1F2733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9718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qator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1691640"/>
            <a:ext cx="2514600" cy="2377440"/>
          </a:xfrm>
          <a:prstGeom prst="rect">
            <a:avLst>
              <a:gd name="adj" fmla="val 3846"/>
            </a:avLst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🇺🇿 O'zbekcha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8076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README_UZB.md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0760" y="2971800"/>
            <a:ext cx="2240280" cy="502920"/>
          </a:xfrm>
          <a:prstGeom prst="rect">
            <a:avLst>
              <a:gd name="adj" fmla="val 14545"/>
            </a:avLst>
          </a:prstGeom>
          <a:solidFill>
            <a:srgbClr val="1F2733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29718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qator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41080" y="1691640"/>
            <a:ext cx="2514600" cy="2377440"/>
          </a:xfrm>
          <a:prstGeom prst="rect">
            <a:avLst>
              <a:gd name="adj" fmla="val 3846"/>
            </a:avLst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0" y="1920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🇹🇯 Tojikcha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824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README_TGK.md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778240" y="2971800"/>
            <a:ext cx="2240280" cy="502920"/>
          </a:xfrm>
          <a:prstGeom prst="rect">
            <a:avLst>
              <a:gd name="adj" fmla="val 14545"/>
            </a:avLst>
          </a:prstGeom>
          <a:solidFill>
            <a:srgbClr val="1F2733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0" y="29718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qator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10881360" cy="1828800"/>
          </a:xfrm>
          <a:prstGeom prst="rect">
            <a:avLst>
              <a:gd name="adj" fmla="val 5000"/>
            </a:avLst>
          </a:prstGeom>
          <a:solidFill>
            <a:srgbClr val="1F2733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HUJJATLARDA NIMA BOR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8920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topshirig'ining to'liq matni (Chapter I-IV, M-53 hikoyasi)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" y="527608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materials/instructions_for_testing — clang-format va test yo'riqnomasi (3 tilda)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" y="566013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materials/7 principles of structural programming.md — Dijkstra tamoyillari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Yakunlangan loyiha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Sifat nazorati — nimalarga rioya qilindi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29000" cy="1417320"/>
          </a:xfrm>
          <a:prstGeom prst="rect">
            <a:avLst>
              <a:gd name="adj" fmla="val 6452"/>
            </a:avLst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rgbClr val="1F2733"/>
          </a:solidFill>
          <a:ln w="19050">
            <a:solidFill>
              <a:srgbClr val="3EC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gcc -Wall -Werror -Wextra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1762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Makefile'da qat'iy ogohlantirish rejimi yoqilgan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463040"/>
            <a:ext cx="3429000" cy="1417320"/>
          </a:xfrm>
          <a:prstGeom prst="rect">
            <a:avLst>
              <a:gd name="adj" fmla="val 6452"/>
            </a:avLst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1645920"/>
            <a:ext cx="411480" cy="411480"/>
          </a:xfrm>
          <a:prstGeom prst="ellipse">
            <a:avLst/>
          </a:prstGeom>
          <a:solidFill>
            <a:srgbClr val="1F2733"/>
          </a:solidFill>
          <a:ln w="19050">
            <a:solidFill>
              <a:srgbClr val="3ECF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Funksiya uzunligi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89120" y="21762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uzun funksiya ham 20 qatordan oshmaydi (limit: 42)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1463040"/>
            <a:ext cx="3429000" cy="1417320"/>
          </a:xfrm>
          <a:prstGeom prst="rect">
            <a:avLst>
              <a:gd name="adj" fmla="val 6452"/>
            </a:avLst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1645920"/>
            <a:ext cx="411480" cy="411480"/>
          </a:xfrm>
          <a:prstGeom prst="ellipse">
            <a:avLst/>
          </a:prstGeom>
          <a:solidFill>
            <a:srgbClr val="1F2733"/>
          </a:solidFill>
          <a:ln w="19050">
            <a:solidFill>
              <a:srgbClr val="3EC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0" y="16459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clang-format (Google Style)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046720" y="21762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materials/linters/.clang-format sozlamasi qo'llanildi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063240"/>
            <a:ext cx="3429000" cy="1417320"/>
          </a:xfrm>
          <a:prstGeom prst="rect">
            <a:avLst>
              <a:gd name="adj" fmla="val 6452"/>
            </a:avLst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246120"/>
            <a:ext cx="411480" cy="411480"/>
          </a:xfrm>
          <a:prstGeom prst="ellipse">
            <a:avLst/>
          </a:prstGeom>
          <a:solidFill>
            <a:srgbClr val="1F2733"/>
          </a:solidFill>
          <a:ln w="19050">
            <a:solidFill>
              <a:srgbClr val="3ECF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246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Strukturaviy dasturlash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37764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 yo'q, aniq funksiyalarga bo'lingan mantiq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3063240"/>
            <a:ext cx="3429000" cy="1417320"/>
          </a:xfrm>
          <a:prstGeom prst="rect">
            <a:avLst>
              <a:gd name="adj" fmla="val 6452"/>
            </a:avLst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4389120" y="3246120"/>
            <a:ext cx="411480" cy="411480"/>
          </a:xfrm>
          <a:prstGeom prst="ellipse">
            <a:avLst/>
          </a:prstGeom>
          <a:solidFill>
            <a:srgbClr val="1F2733"/>
          </a:solidFill>
          <a:ln w="19050">
            <a:solidFill>
              <a:srgbClr val="3ECF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3246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system() chaqiruvi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389120" y="37764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Loyihada umuman ishlatilmagan — talab bajarildi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63840" y="3063240"/>
            <a:ext cx="3429000" cy="1417320"/>
          </a:xfrm>
          <a:prstGeom prst="rect">
            <a:avLst>
              <a:gd name="adj" fmla="val 6452"/>
            </a:avLst>
          </a:prstGeom>
          <a:solidFill>
            <a:srgbClr val="161B22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0" y="3246120"/>
            <a:ext cx="411480" cy="411480"/>
          </a:xfrm>
          <a:prstGeom prst="ellipse">
            <a:avLst/>
          </a:prstGeom>
          <a:solidFill>
            <a:srgbClr val="1F2733"/>
          </a:solidFill>
          <a:ln w="19050">
            <a:solidFill>
              <a:srgbClr val="3ECF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95360" y="3246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Xotira xavfsizligi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046720" y="377647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massivlar, dinamik ajratish yo'q → leak xavfi minimal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Yakunlangan loyiha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Xulosa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Jamoa bo'lib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boshidan oxirigacha yetkazdik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201168" cy="20116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34290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— jarayonni boshqardi, sifatni nazorat qildi va topshirdi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201168" cy="20116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9319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— 10 funksiyali, 164 qatorlik toza C kodini yozdi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201168" cy="20116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4434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Analitik — 5 ta klassik pattern va 4 tilli hujjatlarni tayyorladi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201168" cy="20116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937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cppcheck, clang-format va valgrind talablariga mos, ishlaydigan dastur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5715000"/>
            <a:ext cx="4754880" cy="594360"/>
          </a:xfrm>
          <a:prstGeom prst="rect">
            <a:avLst>
              <a:gd name="adj" fmla="val 12308"/>
            </a:avLst>
          </a:prstGeom>
          <a:solidFill>
            <a:srgbClr val="1F2733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7150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develop 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The Game of Life · Yakunlangan loyiha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2026-08-01T07:12:51Z</dcterms:created>
  <dcterms:modified xsi:type="dcterms:W3CDTF">2026-08-01T07:12:51Z</dcterms:modified>
</cp:coreProperties>
</file>